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3" r:id="rId2"/>
    <p:sldId id="274" r:id="rId3"/>
    <p:sldId id="257" r:id="rId4"/>
    <p:sldId id="273" r:id="rId5"/>
    <p:sldId id="276" r:id="rId6"/>
    <p:sldId id="290" r:id="rId7"/>
    <p:sldId id="291" r:id="rId8"/>
    <p:sldId id="288" r:id="rId9"/>
    <p:sldId id="266" r:id="rId10"/>
    <p:sldId id="281" r:id="rId11"/>
    <p:sldId id="277" r:id="rId12"/>
    <p:sldId id="278" r:id="rId13"/>
    <p:sldId id="279" r:id="rId14"/>
    <p:sldId id="280" r:id="rId15"/>
    <p:sldId id="282" r:id="rId16"/>
    <p:sldId id="283" r:id="rId17"/>
    <p:sldId id="284" r:id="rId18"/>
    <p:sldId id="285" r:id="rId19"/>
    <p:sldId id="286" r:id="rId20"/>
    <p:sldId id="287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00"/>
    <a:srgbClr val="A20000"/>
    <a:srgbClr val="A94417"/>
    <a:srgbClr val="5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FF1CC4-1A29-4429-8188-653F61FD11B3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FE2E3D-FEF5-4A40-841E-44B70B5E680B}">
      <dgm:prSet/>
      <dgm:spPr/>
      <dgm:t>
        <a:bodyPr/>
        <a:lstStyle/>
        <a:p>
          <a:r>
            <a:rPr lang="en-US" b="1" dirty="0"/>
            <a:t>Thanks for following our presentation</a:t>
          </a:r>
        </a:p>
      </dgm:t>
    </dgm:pt>
    <dgm:pt modelId="{2FF31228-CB7C-4B2E-A743-D794D21588B1}" type="parTrans" cxnId="{891481DF-9683-4235-88A7-CF801A8D842B}">
      <dgm:prSet/>
      <dgm:spPr/>
      <dgm:t>
        <a:bodyPr/>
        <a:lstStyle/>
        <a:p>
          <a:endParaRPr lang="en-US"/>
        </a:p>
      </dgm:t>
    </dgm:pt>
    <dgm:pt modelId="{91078295-3642-449F-9D8E-EB34F049BB49}" type="sibTrans" cxnId="{891481DF-9683-4235-88A7-CF801A8D842B}">
      <dgm:prSet/>
      <dgm:spPr/>
      <dgm:t>
        <a:bodyPr/>
        <a:lstStyle/>
        <a:p>
          <a:endParaRPr lang="en-US"/>
        </a:p>
      </dgm:t>
    </dgm:pt>
    <dgm:pt modelId="{6E065BD4-820C-4540-9C1A-506A67F6CFAC}" type="pres">
      <dgm:prSet presAssocID="{B3FF1CC4-1A29-4429-8188-653F61FD11B3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9233B1-8CF8-4A9B-ACE8-B26308B1721C}" type="pres">
      <dgm:prSet presAssocID="{33FE2E3D-FEF5-4A40-841E-44B70B5E680B}" presName="circle1" presStyleLbl="node1" presStyleIdx="0" presStyleCnt="1"/>
      <dgm:spPr>
        <a:solidFill>
          <a:srgbClr val="920000"/>
        </a:solidFill>
      </dgm:spPr>
    </dgm:pt>
    <dgm:pt modelId="{FFA97200-EE06-40C8-8A16-1D9A51DA9B17}" type="pres">
      <dgm:prSet presAssocID="{33FE2E3D-FEF5-4A40-841E-44B70B5E680B}" presName="space" presStyleCnt="0"/>
      <dgm:spPr/>
    </dgm:pt>
    <dgm:pt modelId="{4CE8FCEE-78FF-446C-9853-8C6DE028A27E}" type="pres">
      <dgm:prSet presAssocID="{33FE2E3D-FEF5-4A40-841E-44B70B5E680B}" presName="rect1" presStyleLbl="alignAcc1" presStyleIdx="0" presStyleCnt="1"/>
      <dgm:spPr/>
      <dgm:t>
        <a:bodyPr/>
        <a:lstStyle/>
        <a:p>
          <a:endParaRPr lang="en-US"/>
        </a:p>
      </dgm:t>
    </dgm:pt>
    <dgm:pt modelId="{226AF7CD-A04F-4790-95FC-8580F43DE43C}" type="pres">
      <dgm:prSet presAssocID="{33FE2E3D-FEF5-4A40-841E-44B70B5E680B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98F9D7-A091-424C-A0F1-2C135A9F12B4}" type="presOf" srcId="{33FE2E3D-FEF5-4A40-841E-44B70B5E680B}" destId="{226AF7CD-A04F-4790-95FC-8580F43DE43C}" srcOrd="1" destOrd="0" presId="urn:microsoft.com/office/officeart/2005/8/layout/target3"/>
    <dgm:cxn modelId="{F60FB7EA-05FD-4517-B300-5DD2FE32F6F6}" type="presOf" srcId="{B3FF1CC4-1A29-4429-8188-653F61FD11B3}" destId="{6E065BD4-820C-4540-9C1A-506A67F6CFAC}" srcOrd="0" destOrd="0" presId="urn:microsoft.com/office/officeart/2005/8/layout/target3"/>
    <dgm:cxn modelId="{A0CC4476-BEC0-4F6B-975C-57DEFAE2839D}" type="presOf" srcId="{33FE2E3D-FEF5-4A40-841E-44B70B5E680B}" destId="{4CE8FCEE-78FF-446C-9853-8C6DE028A27E}" srcOrd="0" destOrd="0" presId="urn:microsoft.com/office/officeart/2005/8/layout/target3"/>
    <dgm:cxn modelId="{891481DF-9683-4235-88A7-CF801A8D842B}" srcId="{B3FF1CC4-1A29-4429-8188-653F61FD11B3}" destId="{33FE2E3D-FEF5-4A40-841E-44B70B5E680B}" srcOrd="0" destOrd="0" parTransId="{2FF31228-CB7C-4B2E-A743-D794D21588B1}" sibTransId="{91078295-3642-449F-9D8E-EB34F049BB49}"/>
    <dgm:cxn modelId="{9A914CE5-DE7C-408F-A142-6E7418CFBA6D}" type="presParOf" srcId="{6E065BD4-820C-4540-9C1A-506A67F6CFAC}" destId="{879233B1-8CF8-4A9B-ACE8-B26308B1721C}" srcOrd="0" destOrd="0" presId="urn:microsoft.com/office/officeart/2005/8/layout/target3"/>
    <dgm:cxn modelId="{A13FB18A-001A-4075-BE2B-1DF72EB91116}" type="presParOf" srcId="{6E065BD4-820C-4540-9C1A-506A67F6CFAC}" destId="{FFA97200-EE06-40C8-8A16-1D9A51DA9B17}" srcOrd="1" destOrd="0" presId="urn:microsoft.com/office/officeart/2005/8/layout/target3"/>
    <dgm:cxn modelId="{947B4F2D-1781-4103-83F7-FB29D2EE5F4C}" type="presParOf" srcId="{6E065BD4-820C-4540-9C1A-506A67F6CFAC}" destId="{4CE8FCEE-78FF-446C-9853-8C6DE028A27E}" srcOrd="2" destOrd="0" presId="urn:microsoft.com/office/officeart/2005/8/layout/target3"/>
    <dgm:cxn modelId="{062784D6-F442-4755-92B3-F9452DBAF088}" type="presParOf" srcId="{6E065BD4-820C-4540-9C1A-506A67F6CFAC}" destId="{226AF7CD-A04F-4790-95FC-8580F43DE43C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233B1-8CF8-4A9B-ACE8-B26308B1721C}">
      <dsp:nvSpPr>
        <dsp:cNvPr id="0" name=""/>
        <dsp:cNvSpPr/>
      </dsp:nvSpPr>
      <dsp:spPr>
        <a:xfrm>
          <a:off x="0" y="0"/>
          <a:ext cx="6858000" cy="6858000"/>
        </a:xfrm>
        <a:prstGeom prst="pie">
          <a:avLst>
            <a:gd name="adj1" fmla="val 5400000"/>
            <a:gd name="adj2" fmla="val 16200000"/>
          </a:avLst>
        </a:prstGeom>
        <a:solidFill>
          <a:srgbClr val="92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8FCEE-78FF-446C-9853-8C6DE028A27E}">
      <dsp:nvSpPr>
        <dsp:cNvPr id="0" name=""/>
        <dsp:cNvSpPr/>
      </dsp:nvSpPr>
      <dsp:spPr>
        <a:xfrm>
          <a:off x="3429000" y="0"/>
          <a:ext cx="8763000" cy="685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b="1" kern="1200" dirty="0"/>
            <a:t>Thanks for following our presentation</a:t>
          </a:r>
        </a:p>
      </dsp:txBody>
      <dsp:txXfrm>
        <a:off x="3429000" y="0"/>
        <a:ext cx="8763000" cy="685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B6857-884D-4A52-B4B1-C393ED62A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0371-41BE-4751-9CC0-6E62B61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00371-41BE-4751-9CC0-6E62B619E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3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7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3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8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2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4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5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0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2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7BF82-1F46-4ABF-8F3C-5E3C54C659D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32588-4EA7-4977-A84A-4894ACB5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3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2480" y="799507"/>
            <a:ext cx="10528663" cy="1393371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    </a:t>
            </a:r>
            <a:r>
              <a:rPr lang="en-US" sz="3600" b="1" dirty="0" err="1"/>
              <a:t>Dự</a:t>
            </a:r>
            <a:r>
              <a:rPr lang="en-US" sz="3600" b="1" dirty="0"/>
              <a:t> </a:t>
            </a:r>
            <a:r>
              <a:rPr lang="en-US" sz="3600" b="1" dirty="0" err="1"/>
              <a:t>án</a:t>
            </a:r>
            <a:r>
              <a:rPr lang="en-US" sz="3600" b="1" dirty="0"/>
              <a:t> </a:t>
            </a:r>
            <a:r>
              <a:rPr lang="en-US" sz="3600" b="1"/>
              <a:t>: Xây dựng website quản lý kho hàng 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618637" y="3284639"/>
            <a:ext cx="495472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err="1"/>
              <a:t>Nhóm</a:t>
            </a:r>
            <a:r>
              <a:rPr lang="en-US" sz="3000" b="1"/>
              <a:t> 4</a:t>
            </a:r>
            <a:endParaRPr lang="en-US" sz="3000" b="1" dirty="0"/>
          </a:p>
          <a:p>
            <a:pPr algn="ctr"/>
            <a:r>
              <a:rPr lang="en-US" sz="2500"/>
              <a:t>Trần Thế Duy – B23DCCN251</a:t>
            </a:r>
            <a:endParaRPr lang="en-US" sz="2500" dirty="0"/>
          </a:p>
          <a:p>
            <a:pPr algn="ctr"/>
            <a:r>
              <a:rPr lang="en-US" sz="2500" dirty="0"/>
              <a:t>Đặng Thanh Quang </a:t>
            </a:r>
            <a:r>
              <a:rPr lang="en-US" sz="2500"/>
              <a:t>– B23DCCN685</a:t>
            </a:r>
          </a:p>
          <a:p>
            <a:pPr algn="ctr"/>
            <a:r>
              <a:rPr lang="en-US" sz="2500"/>
              <a:t>Nguyễn Huy Hoàng – B23DCCN335</a:t>
            </a:r>
            <a:endParaRPr lang="en-US" sz="2500" dirty="0"/>
          </a:p>
        </p:txBody>
      </p:sp>
      <p:sp>
        <p:nvSpPr>
          <p:cNvPr id="7" name="TextBox 6"/>
          <p:cNvSpPr txBox="1"/>
          <p:nvPr/>
        </p:nvSpPr>
        <p:spPr>
          <a:xfrm>
            <a:off x="3376138" y="6071673"/>
            <a:ext cx="5197224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i="1" dirty="0" err="1"/>
              <a:t>Giảng</a:t>
            </a:r>
            <a:r>
              <a:rPr lang="en-US" sz="2100" i="1" dirty="0"/>
              <a:t> </a:t>
            </a:r>
            <a:r>
              <a:rPr lang="en-US" sz="2100" i="1" dirty="0" err="1"/>
              <a:t>viên</a:t>
            </a:r>
            <a:r>
              <a:rPr lang="en-US" sz="2100" i="1" dirty="0"/>
              <a:t> </a:t>
            </a:r>
            <a:r>
              <a:rPr lang="en-US" sz="2100" i="1" dirty="0" err="1"/>
              <a:t>hướng</a:t>
            </a:r>
            <a:r>
              <a:rPr lang="en-US" sz="2100" i="1" dirty="0"/>
              <a:t> </a:t>
            </a:r>
            <a:r>
              <a:rPr lang="en-US" sz="2100" i="1" dirty="0" err="1"/>
              <a:t>dẫn</a:t>
            </a:r>
            <a:r>
              <a:rPr lang="en-US" sz="2100" i="1" dirty="0"/>
              <a:t> : </a:t>
            </a:r>
            <a:r>
              <a:rPr lang="en-US" sz="2100" i="1" dirty="0" err="1"/>
              <a:t>ThS</a:t>
            </a:r>
            <a:r>
              <a:rPr lang="en-US" sz="2100" i="1"/>
              <a:t>. Vũ Minh Mạnh</a:t>
            </a:r>
            <a:endParaRPr lang="en-US" sz="21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2A2450-482A-28A6-90D8-226CD78B7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177" y="3429000"/>
            <a:ext cx="2388966" cy="1704975"/>
          </a:xfrm>
          <a:prstGeom prst="rect">
            <a:avLst/>
          </a:prstGeom>
        </p:spPr>
      </p:pic>
      <p:pic>
        <p:nvPicPr>
          <p:cNvPr id="1026" name="Picture 2" descr="Xử lý ảnh và lập trình nhúng với ngôn ngữ lập trình Python trong ngành Tự  động hóa - Cao Đẳng FPT Polytechni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" y="3284639"/>
            <a:ext cx="2583658" cy="221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23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2419A6E-272E-DB63-3387-11186412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9B24BF4-69B1-0196-7C10-31CCFE18D4F2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/>
              <a:t>MỤC TIÊU DỰ ÁN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645E7FD-F7EF-0A73-FE65-806386D99AB3}"/>
              </a:ext>
            </a:extLst>
          </p:cNvPr>
          <p:cNvSpPr txBox="1"/>
          <p:nvPr/>
        </p:nvSpPr>
        <p:spPr>
          <a:xfrm>
            <a:off x="1027611" y="1693577"/>
            <a:ext cx="109728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/>
              <a:t>Xây dựng hệ thống quản lý kho trực tuyến đơn giản, nhẹ, dễ dùng</a:t>
            </a:r>
            <a:endParaRPr lang="en-US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A4DF24D-ECC0-8E03-0ACD-E2FC35381BBF}"/>
              </a:ext>
            </a:extLst>
          </p:cNvPr>
          <p:cNvSpPr txBox="1"/>
          <p:nvPr/>
        </p:nvSpPr>
        <p:spPr>
          <a:xfrm>
            <a:off x="1027611" y="2637981"/>
            <a:ext cx="1097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/>
              <a:t>Hỗ trợ quản lý sản phẩm, nhập kho, xuất kho và cảnh báo tồn thấp</a:t>
            </a:r>
            <a:endParaRPr lang="en-US" sz="3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2A88003-29F7-DB4C-8957-8ECAD1768959}"/>
              </a:ext>
            </a:extLst>
          </p:cNvPr>
          <p:cNvSpPr txBox="1"/>
          <p:nvPr/>
        </p:nvSpPr>
        <p:spPr>
          <a:xfrm>
            <a:off x="1027611" y="4044050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/>
              <a:t>Tối ưu cho người dùng trong thao tác quản lý </a:t>
            </a:r>
            <a:r>
              <a:rPr lang="en-US" sz="3000" b="1" smtClean="0"/>
              <a:t>hàng </a:t>
            </a:r>
            <a:r>
              <a:rPr lang="en-US" sz="3000" b="1"/>
              <a:t>hóa</a:t>
            </a:r>
            <a:endParaRPr lang="en-US" sz="3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39369D7-89CE-D7AA-791C-0E1AB646556A}"/>
              </a:ext>
            </a:extLst>
          </p:cNvPr>
          <p:cNvSpPr txBox="1"/>
          <p:nvPr/>
        </p:nvSpPr>
        <p:spPr>
          <a:xfrm>
            <a:off x="1027612" y="5035892"/>
            <a:ext cx="1097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/>
              <a:t>Đảm bảo tính ổn định và bảo mật dữ liệu trong quá trình hoạt động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25306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/>
              <a:t>CÔNG NGHỆ SỬ DỤNG </a:t>
            </a:r>
            <a:endParaRPr lang="en-US" sz="3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8353A8B-E006-FECF-EA27-2017D29B195E}"/>
              </a:ext>
            </a:extLst>
          </p:cNvPr>
          <p:cNvSpPr txBox="1"/>
          <p:nvPr/>
        </p:nvSpPr>
        <p:spPr>
          <a:xfrm>
            <a:off x="521869" y="1241558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3107" y="1545639"/>
            <a:ext cx="651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BACKEND : Flask (Python), SQLAlchemy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107" y="2419896"/>
            <a:ext cx="6191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DATEBASE : My SQL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107" y="3371266"/>
            <a:ext cx="6191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FRONTEND : HTML, CSS, Flask Jinja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951" y="4380787"/>
            <a:ext cx="7068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CÔNG CỤ PHÁT TRIỂN : Pycharm, Workbench, Browser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107" y="5569485"/>
            <a:ext cx="6618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THƯ VIỆN HỖ TRỢ : Flask-Login, Werkzeug, Bootstrap UI</a:t>
            </a:r>
          </a:p>
        </p:txBody>
      </p:sp>
      <p:pic>
        <p:nvPicPr>
          <p:cNvPr id="2052" name="Picture 4" descr="Flask Python là gì? Ưu nhược điểm của Flask| So sánh với Djan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853" y="1563037"/>
            <a:ext cx="2840174" cy="160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SS là gì? Những kiến thức quan trọng về ngôn ngữ CS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852" y="4707189"/>
            <a:ext cx="2840174" cy="144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ORM và SQLAlchemy trong quản trị cơ sở dữ liệu | TopDev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852" y="3172472"/>
            <a:ext cx="2840174" cy="153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563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2A5884-5AAA-EBEA-1F63-03DAEE57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57F2C15-1FDC-1EAC-3FA7-EC2CAFC76508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/>
              <a:t>CẤU TRÚC HỆ THỐNG</a:t>
            </a:r>
            <a:endParaRPr lang="en-US" sz="3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97730" y="1238250"/>
            <a:ext cx="103965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</a:rPr>
              <a:t>📁</a:t>
            </a:r>
            <a:r>
              <a:rPr lang="en-US" sz="2000"/>
              <a:t> </a:t>
            </a:r>
            <a:r>
              <a:rPr lang="vi-VN" sz="2000">
                <a:ea typeface="Calibri" panose="020F0502020204030204" pitchFamily="34" charset="0"/>
                <a:cs typeface="Calibri" panose="020F0502020204030204" pitchFamily="34" charset="0"/>
              </a:rPr>
              <a:t>kho</a:t>
            </a:r>
            <a:r>
              <a:rPr lang="vi-VN" sz="2000"/>
              <a:t>_</a:t>
            </a:r>
            <a:r>
              <a:rPr lang="en-US" sz="2000">
                <a:cs typeface="Arial" panose="020B0604020202020204" pitchFamily="34" charset="0"/>
              </a:rPr>
              <a:t>hang_thong_minh</a:t>
            </a:r>
            <a:endParaRPr lang="vi-VN" sz="2000">
              <a:cs typeface="Arial" panose="020B0604020202020204" pitchFamily="34" charset="0"/>
            </a:endParaRPr>
          </a:p>
          <a:p>
            <a:r>
              <a:rPr lang="vi-VN" sz="2000"/>
              <a:t>│ ──</a:t>
            </a:r>
            <a:r>
              <a:rPr lang="en-US" sz="2000"/>
              <a:t> </a:t>
            </a:r>
            <a:r>
              <a:rPr lang="en-US" sz="2000">
                <a:cs typeface="Arial" panose="020B0604020202020204" pitchFamily="34" charset="0"/>
              </a:rPr>
              <a:t>.venv                             </a:t>
            </a:r>
            <a:r>
              <a:rPr lang="vi-VN" sz="2000"/>
              <a:t>→</a:t>
            </a:r>
            <a:r>
              <a:rPr lang="en-US" sz="2000"/>
              <a:t> </a:t>
            </a:r>
            <a:r>
              <a:rPr lang="en-US" sz="2000">
                <a:cs typeface="Arial" panose="020B0604020202020204" pitchFamily="34" charset="0"/>
              </a:rPr>
              <a:t>Môi trường ảo</a:t>
            </a:r>
            <a:endParaRPr lang="vi-VN" sz="2000">
              <a:cs typeface="Arial" panose="020B0604020202020204" pitchFamily="34" charset="0"/>
            </a:endParaRPr>
          </a:p>
          <a:p>
            <a:r>
              <a:rPr lang="vi-VN" sz="2000"/>
              <a:t>│ ── app.py              </a:t>
            </a:r>
            <a:r>
              <a:rPr lang="en-US" sz="2000"/>
              <a:t>               </a:t>
            </a:r>
            <a:r>
              <a:rPr lang="vi-VN" sz="2000"/>
              <a:t>→ Flask chính, routes &amp; logic</a:t>
            </a:r>
          </a:p>
          <a:p>
            <a:r>
              <a:rPr lang="vi-VN" sz="2000"/>
              <a:t>│ ── models.py          </a:t>
            </a:r>
            <a:r>
              <a:rPr lang="en-US" sz="2000"/>
              <a:t>             </a:t>
            </a:r>
            <a:r>
              <a:rPr lang="vi-VN" sz="2000"/>
              <a:t>→ Các bảng SQLAlchemy</a:t>
            </a:r>
          </a:p>
          <a:p>
            <a:r>
              <a:rPr lang="vi-VN" sz="2000"/>
              <a:t>│ ── config.py           </a:t>
            </a:r>
            <a:r>
              <a:rPr lang="en-US" sz="2000"/>
              <a:t>              </a:t>
            </a:r>
            <a:r>
              <a:rPr lang="vi-VN" sz="2000"/>
              <a:t>→ Thông tin cấu hình DB</a:t>
            </a:r>
          </a:p>
          <a:p>
            <a:r>
              <a:rPr lang="vi-VN" sz="2000"/>
              <a:t>│ ── requirements.txt    </a:t>
            </a:r>
            <a:r>
              <a:rPr lang="en-US" sz="2000"/>
              <a:t>         </a:t>
            </a:r>
            <a:r>
              <a:rPr lang="vi-VN" sz="2000"/>
              <a:t>→ Danh sách thư viện</a:t>
            </a:r>
          </a:p>
          <a:p>
            <a:r>
              <a:rPr lang="vi-VN" sz="2000"/>
              <a:t>│</a:t>
            </a:r>
          </a:p>
          <a:p>
            <a:r>
              <a:rPr lang="vi-VN" sz="2000"/>
              <a:t>│ ── </a:t>
            </a:r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</a:rPr>
              <a:t>📁</a:t>
            </a:r>
            <a:r>
              <a:rPr lang="en-US" sz="2000"/>
              <a:t> </a:t>
            </a:r>
            <a:r>
              <a:rPr lang="vi-VN" sz="2000"/>
              <a:t>templates/        </a:t>
            </a:r>
            <a:r>
              <a:rPr lang="en-US" sz="2000"/>
              <a:t>          </a:t>
            </a:r>
            <a:r>
              <a:rPr lang="vi-VN" sz="2000"/>
              <a:t>→ Giao diện HTML (Jinja2)</a:t>
            </a:r>
          </a:p>
          <a:p>
            <a:r>
              <a:rPr lang="vi-VN" sz="2000"/>
              <a:t>│     ├── home.html</a:t>
            </a:r>
          </a:p>
          <a:p>
            <a:r>
              <a:rPr lang="vi-VN" sz="2000"/>
              <a:t>│     ├── products.html</a:t>
            </a:r>
          </a:p>
          <a:p>
            <a:r>
              <a:rPr lang="vi-VN" sz="2000"/>
              <a:t>│     ├── stock.html</a:t>
            </a:r>
          </a:p>
          <a:p>
            <a:r>
              <a:rPr lang="vi-VN" sz="2000"/>
              <a:t>│     ├── nhap_kho.html</a:t>
            </a:r>
          </a:p>
          <a:p>
            <a:r>
              <a:rPr lang="vi-VN" sz="2000"/>
              <a:t>│     └── xuat_kho.html</a:t>
            </a:r>
            <a:endParaRPr lang="en-US" sz="2000"/>
          </a:p>
          <a:p>
            <a:r>
              <a:rPr lang="vi-VN" sz="2000"/>
              <a:t>│ </a:t>
            </a:r>
            <a:r>
              <a:rPr lang="en-US" sz="2000"/>
              <a:t>	…………..</a:t>
            </a:r>
          </a:p>
          <a:p>
            <a:r>
              <a:rPr lang="vi-VN" sz="2000"/>
              <a:t>│ ── </a:t>
            </a:r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</a:rPr>
              <a:t>📁</a:t>
            </a:r>
            <a:r>
              <a:rPr lang="en-US" sz="2000"/>
              <a:t> </a:t>
            </a:r>
            <a:r>
              <a:rPr lang="vi-VN" sz="2000"/>
              <a:t>static/</a:t>
            </a:r>
          </a:p>
          <a:p>
            <a:r>
              <a:rPr lang="vi-VN" sz="2000"/>
              <a:t>      </a:t>
            </a:r>
            <a:r>
              <a:rPr lang="en-US" sz="2000"/>
              <a:t>  </a:t>
            </a:r>
            <a:r>
              <a:rPr lang="vi-VN" sz="2000"/>
              <a:t>└── style.css     </a:t>
            </a:r>
            <a:r>
              <a:rPr lang="en-US" sz="2000"/>
              <a:t>                </a:t>
            </a:r>
            <a:r>
              <a:rPr lang="vi-VN" sz="2000"/>
              <a:t>→ CSS dùng chung</a:t>
            </a:r>
          </a:p>
        </p:txBody>
      </p:sp>
    </p:spTree>
    <p:extLst>
      <p:ext uri="{BB962C8B-B14F-4D97-AF65-F5344CB8AC3E}">
        <p14:creationId xmlns:p14="http://schemas.microsoft.com/office/powerpoint/2010/main" val="2891628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6F4D7B-10AC-AE79-B7A3-A28D7B28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B48AAC3-777C-6EC7-9E4F-D4B13E9E25E8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CƠ SỞ DỮ LIỆU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xmlns="" id="{9316A6D5-8B1A-8819-628E-CA7AB3C01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265" y="1245753"/>
            <a:ext cx="939935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x-none" altLang="x-none" sz="2400" dirty="0">
                <a:cs typeface="Times New Roman" panose="02020603050405020304" pitchFamily="18" charset="0"/>
              </a:rPr>
              <a:t>Quản lý </a:t>
            </a:r>
            <a:r>
              <a:rPr lang="x-none" altLang="x-none" sz="2400" b="1" dirty="0">
                <a:cs typeface="Times New Roman" panose="02020603050405020304" pitchFamily="18" charset="0"/>
              </a:rPr>
              <a:t>đa kho</a:t>
            </a:r>
            <a:r>
              <a:rPr lang="x-none" altLang="x-none" sz="2400" dirty="0">
                <a:cs typeface="Times New Roman" panose="02020603050405020304" pitchFamily="18" charset="0"/>
              </a:rPr>
              <a:t> (chi nhánh khác địa </a:t>
            </a:r>
            <a:r>
              <a:rPr lang="x-none" altLang="x-none" sz="2400">
                <a:cs typeface="Times New Roman" panose="02020603050405020304" pitchFamily="18" charset="0"/>
              </a:rPr>
              <a:t>điểm</a:t>
            </a:r>
            <a:r>
              <a:rPr lang="x-none" altLang="x-none" sz="2400" smtClean="0">
                <a:cs typeface="Times New Roman" panose="02020603050405020304" pitchFamily="18" charset="0"/>
              </a:rPr>
              <a:t>).</a:t>
            </a:r>
            <a:endParaRPr lang="en-US" altLang="x-none" sz="2400" smtClean="0"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Theo dõi </a:t>
            </a: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nhập – xuất – tồn</a:t>
            </a: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theo </a:t>
            </a: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từng kho, từng sản </a:t>
            </a:r>
            <a:r>
              <a:rPr kumimoji="0" lang="x-none" altLang="x-non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phẩm</a:t>
            </a:r>
            <a:r>
              <a:rPr kumimoji="0" lang="x-none" altLang="x-none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x-non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Điều chuyển nội bộ</a:t>
            </a: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giữa các </a:t>
            </a:r>
            <a:r>
              <a:rPr kumimoji="0" lang="x-none" altLang="x-none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kho</a:t>
            </a:r>
            <a:r>
              <a:rPr kumimoji="0" lang="x-none" altLang="x-none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x-non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Kiểm kê định kỳ</a:t>
            </a: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 so sánh hệ thống vs thực </a:t>
            </a:r>
            <a:r>
              <a:rPr kumimoji="0" lang="x-none" altLang="x-none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tế</a:t>
            </a:r>
            <a:r>
              <a:rPr kumimoji="0" lang="x-none" altLang="x-none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x-non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Quản lý tác nhân: </a:t>
            </a: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nhân viên, khách hàng, nhà cung cấp, xe vận </a:t>
            </a:r>
            <a:r>
              <a:rPr kumimoji="0" lang="x-none" altLang="x-non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chuyển</a:t>
            </a:r>
            <a:r>
              <a:rPr kumimoji="0" lang="x-none" altLang="x-none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x-non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Phân quyền người dùng: </a:t>
            </a: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admin / staff (theo </a:t>
            </a:r>
            <a:r>
              <a:rPr kumimoji="0" lang="x-none" altLang="x-non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kho</a:t>
            </a:r>
            <a:r>
              <a:rPr kumimoji="0" lang="x-none" altLang="x-none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kumimoji="0" lang="x-none" altLang="x-none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x-none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Yêu cầu dữ liệu: toàn vẹn, truy vết, mở rộng.</a:t>
            </a:r>
          </a:p>
        </p:txBody>
      </p:sp>
    </p:spTree>
    <p:extLst>
      <p:ext uri="{BB962C8B-B14F-4D97-AF65-F5344CB8AC3E}">
        <p14:creationId xmlns:p14="http://schemas.microsoft.com/office/powerpoint/2010/main" val="3227612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442DE7-B50A-963B-AF78-5559F124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2E8ABB4-CFF4-24DE-19A9-9FB97ECC06A3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CƠ SỞ DỮ LIỆU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1533A7E-773E-ABFC-C54E-A23A1AD0DF44}"/>
              </a:ext>
            </a:extLst>
          </p:cNvPr>
          <p:cNvSpPr txBox="1"/>
          <p:nvPr/>
        </p:nvSpPr>
        <p:spPr>
          <a:xfrm>
            <a:off x="838200" y="1111527"/>
            <a:ext cx="93993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Cấu trúc tổng thể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E974B245-BE71-C458-46E0-AA07F7431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163872"/>
              </p:ext>
            </p:extLst>
          </p:nvPr>
        </p:nvGraphicFramePr>
        <p:xfrm>
          <a:off x="838200" y="1673637"/>
          <a:ext cx="10491651" cy="481374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703553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3264417428"/>
                    </a:ext>
                  </a:extLst>
                </a:gridCol>
                <a:gridCol w="3481251">
                  <a:extLst>
                    <a:ext uri="{9D8B030D-6E8A-4147-A177-3AD203B41FA5}">
                      <a16:colId xmlns:a16="http://schemas.microsoft.com/office/drawing/2014/main" xmlns="" val="128294577"/>
                    </a:ext>
                  </a:extLst>
                </a:gridCol>
              </a:tblGrid>
              <a:tr h="7386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smtClean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Nhóm bảng</a:t>
                      </a:r>
                      <a:endParaRPr lang="en-US" sz="2000" b="1">
                        <a:solidFill>
                          <a:schemeClr val="accent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Vai trò chính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Ví dụ bảng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23972979"/>
                  </a:ext>
                </a:extLst>
              </a:tr>
              <a:tr h="8581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Danh mục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Thông tin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nền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địa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điểm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vụ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kho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dia_diem, chuc_vu, 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25173701"/>
                  </a:ext>
                </a:extLst>
              </a:tr>
              <a:tr h="861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Tác nhân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Quản lý người &amp; tổ chức liên quan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nhan_vien, nha_cung_cap, khach_hang, xe_van_chuyen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43244396"/>
                  </a:ext>
                </a:extLst>
              </a:tr>
              <a:tr h="861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Nghiệp vụ kho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 dõi hàng hóa &amp; biến động tồn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san_pham, ton_kho, hoa_don_nhap, hoa_don_xuat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2002315"/>
                  </a:ext>
                </a:extLst>
              </a:tr>
              <a:tr h="861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Điều chuyển &amp; kiểm kê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 dõi di </a:t>
                      </a:r>
                      <a:r>
                        <a:rPr lang="en-US" sz="200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chuyển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dieu_chuyen, dieu_chuyen_ct,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24271068"/>
                  </a:ext>
                </a:extLst>
              </a:tr>
              <a:tr h="6317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Tài khoản &amp; phân quyền</a:t>
                      </a:r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Quản trị người dùng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Admin,</a:t>
                      </a:r>
                      <a:r>
                        <a:rPr lang="en-US" sz="2000" baseline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users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4008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437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57F86E-9F34-AB81-62D4-DC2DC5DE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3062684-5AAD-F21E-8A84-1715D6B00E48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CƠ SỞ DỮ LIỆU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144035E-DDE6-5534-8B16-8C8BF2E68C11}"/>
              </a:ext>
            </a:extLst>
          </p:cNvPr>
          <p:cNvSpPr txBox="1"/>
          <p:nvPr/>
        </p:nvSpPr>
        <p:spPr>
          <a:xfrm>
            <a:off x="838200" y="1135028"/>
            <a:ext cx="93993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err="1"/>
              <a:t>Một</a:t>
            </a:r>
            <a:r>
              <a:rPr lang="en-US" sz="2600" b="1" dirty="0"/>
              <a:t> </a:t>
            </a:r>
            <a:r>
              <a:rPr lang="en-US" sz="2600" b="1" dirty="0" err="1"/>
              <a:t>số</a:t>
            </a:r>
            <a:r>
              <a:rPr lang="en-US" sz="2600" b="1" dirty="0"/>
              <a:t> </a:t>
            </a:r>
            <a:r>
              <a:rPr lang="en-US" sz="2600" b="1" dirty="0" err="1"/>
              <a:t>nghiệp</a:t>
            </a:r>
            <a:r>
              <a:rPr lang="en-US" sz="2600" b="1" dirty="0"/>
              <a:t> </a:t>
            </a:r>
            <a:r>
              <a:rPr lang="en-US" sz="2600" b="1" dirty="0" err="1"/>
              <a:t>vụ</a:t>
            </a:r>
            <a:r>
              <a:rPr lang="en-US" sz="2600" b="1" dirty="0"/>
              <a:t> </a:t>
            </a:r>
            <a:r>
              <a:rPr lang="en-US" sz="2600" b="1" dirty="0" err="1"/>
              <a:t>điển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endParaRPr lang="vi-VN" sz="26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00C92B65-234A-410A-6E58-582748AC1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21960"/>
              </p:ext>
            </p:extLst>
          </p:nvPr>
        </p:nvGraphicFramePr>
        <p:xfrm>
          <a:off x="838200" y="1767841"/>
          <a:ext cx="10515600" cy="436794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25601645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17835994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3664252786"/>
                    </a:ext>
                  </a:extLst>
                </a:gridCol>
              </a:tblGrid>
              <a:tr h="547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latin typeface="+mn-lt"/>
                        </a:rPr>
                        <a:t>Nghiệp vụ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latin typeface="+mn-lt"/>
                        </a:rPr>
                        <a:t>Bảng liên quan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latin typeface="+mn-lt"/>
                        </a:rPr>
                        <a:t>Mô tả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8689796"/>
                  </a:ext>
                </a:extLst>
              </a:tr>
              <a:tr h="8151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+mn-lt"/>
                        </a:rPr>
                        <a:t>Nhập hàng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hoa_don_nhap, ton_kho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Ghi nhận hàng từ NCC, tăng tồn 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99048554"/>
                  </a:ext>
                </a:extLst>
              </a:tr>
              <a:tr h="788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+mn-lt"/>
                        </a:rPr>
                        <a:t>Xuất hàng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hoa_don_xuat, ton_kho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Xuất bán cho khách, giảm tồn 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2030451"/>
                  </a:ext>
                </a:extLst>
              </a:tr>
              <a:tr h="6173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+mn-lt"/>
                        </a:rPr>
                        <a:t>Điều chuyển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dieu_chuyen, dieu_chuyen_ct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Chuyển sản phẩm giữa hai 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0058241"/>
                  </a:ext>
                </a:extLst>
              </a:tr>
              <a:tr h="7433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latin typeface="+mn-lt"/>
                        </a:rPr>
                        <a:t>Cảnh báo tồn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ton_kho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Cảnh báo hàng sắp hết / quá hạn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63639248"/>
                  </a:ext>
                </a:extLst>
              </a:tr>
              <a:tr h="8553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quyền người dùng</a:t>
                      </a:r>
                      <a:endParaRPr lang="vi-V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latin typeface="+mn-lt"/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latin typeface="+mn-lt"/>
                        </a:rPr>
                        <a:t>Phân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biệt</a:t>
                      </a:r>
                      <a:r>
                        <a:rPr lang="en-US" sz="2000" dirty="0">
                          <a:latin typeface="+mn-lt"/>
                        </a:rPr>
                        <a:t> admin (</a:t>
                      </a:r>
                      <a:r>
                        <a:rPr lang="en-US" sz="2000" dirty="0" err="1">
                          <a:latin typeface="+mn-lt"/>
                        </a:rPr>
                        <a:t>toàn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quyền</a:t>
                      </a:r>
                      <a:r>
                        <a:rPr lang="en-US" sz="2000" dirty="0">
                          <a:latin typeface="+mn-lt"/>
                        </a:rPr>
                        <a:t>) </a:t>
                      </a:r>
                      <a:r>
                        <a:rPr lang="en-US" sz="2000" dirty="0" err="1">
                          <a:latin typeface="+mn-lt"/>
                        </a:rPr>
                        <a:t>và</a:t>
                      </a:r>
                      <a:r>
                        <a:rPr lang="en-US" sz="2000" dirty="0">
                          <a:latin typeface="+mn-lt"/>
                        </a:rPr>
                        <a:t> staff (</a:t>
                      </a:r>
                      <a:r>
                        <a:rPr lang="en-US" sz="2000" dirty="0" err="1">
                          <a:latin typeface="+mn-lt"/>
                        </a:rPr>
                        <a:t>theo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kho</a:t>
                      </a:r>
                      <a:r>
                        <a:rPr lang="en-US" sz="2000" dirty="0"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7420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947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AF5F10-03FD-748C-DC9A-4C85DFE2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0ACCC9E-F271-8D53-7EFF-2DB5DCB0165F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CƠ SỞ DỮ LIỆU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5F3176-71DF-F968-10B0-61AFE1E1219F}"/>
              </a:ext>
            </a:extLst>
          </p:cNvPr>
          <p:cNvSpPr txBox="1"/>
          <p:nvPr/>
        </p:nvSpPr>
        <p:spPr>
          <a:xfrm>
            <a:off x="1218690" y="1120719"/>
            <a:ext cx="93993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er-diagram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sau khi đã xây dựng xong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0C98EC6D-4607-4027-9AC9-48A2536667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90" y="1787333"/>
            <a:ext cx="8698076" cy="483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72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/>
              <a:t>CHỨC NĂNG CHÍNH</a:t>
            </a:r>
            <a:endParaRPr lang="en-US" sz="3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95806" y="1580476"/>
            <a:ext cx="857215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/>
              <a:t>Đăng</a:t>
            </a:r>
            <a:r>
              <a:rPr lang="en-US" sz="2500" b="1" dirty="0"/>
              <a:t> </a:t>
            </a:r>
            <a:r>
              <a:rPr lang="en-US" sz="2500" b="1" dirty="0" err="1"/>
              <a:t>nhập</a:t>
            </a:r>
            <a:r>
              <a:rPr lang="en-US" sz="2500" b="1" dirty="0"/>
              <a:t>, </a:t>
            </a:r>
            <a:r>
              <a:rPr lang="en-US" sz="2500" b="1" dirty="0" err="1"/>
              <a:t>đăng</a:t>
            </a:r>
            <a:r>
              <a:rPr lang="en-US" sz="2500" b="1" dirty="0"/>
              <a:t> </a:t>
            </a:r>
            <a:r>
              <a:rPr lang="en-US" sz="2500" b="1" dirty="0" err="1"/>
              <a:t>xuất</a:t>
            </a:r>
            <a:r>
              <a:rPr lang="en-US" sz="2500" b="1" dirty="0"/>
              <a:t> </a:t>
            </a:r>
            <a:r>
              <a:rPr lang="en-US" sz="2500" b="1" dirty="0" err="1"/>
              <a:t>với</a:t>
            </a:r>
            <a:r>
              <a:rPr lang="en-US" sz="2500" b="1" dirty="0"/>
              <a:t> </a:t>
            </a:r>
            <a:r>
              <a:rPr lang="en-US" sz="2500" b="1" dirty="0" err="1"/>
              <a:t>phân</a:t>
            </a:r>
            <a:r>
              <a:rPr lang="en-US" sz="2500" b="1" dirty="0"/>
              <a:t> </a:t>
            </a:r>
            <a:r>
              <a:rPr lang="en-US" sz="2500" b="1" dirty="0" err="1"/>
              <a:t>quyền</a:t>
            </a:r>
            <a:r>
              <a:rPr lang="en-US" sz="2500" b="1" dirty="0"/>
              <a:t> </a:t>
            </a:r>
            <a:r>
              <a:rPr lang="en-US" sz="2500" b="1" dirty="0" err="1"/>
              <a:t>quản</a:t>
            </a:r>
            <a:r>
              <a:rPr lang="en-US" sz="2500" b="1" dirty="0"/>
              <a:t> </a:t>
            </a:r>
            <a:r>
              <a:rPr lang="en-US" sz="2500" b="1" dirty="0" err="1"/>
              <a:t>trị</a:t>
            </a:r>
            <a:r>
              <a:rPr lang="en-US" sz="2500" b="1" dirty="0"/>
              <a:t> </a:t>
            </a:r>
            <a:r>
              <a:rPr lang="en-US" sz="2500" b="1" dirty="0" err="1"/>
              <a:t>và</a:t>
            </a:r>
            <a:r>
              <a:rPr lang="en-US" sz="2500" b="1" dirty="0"/>
              <a:t> </a:t>
            </a:r>
            <a:r>
              <a:rPr lang="en-US" sz="2500" b="1" dirty="0" err="1"/>
              <a:t>đổi</a:t>
            </a:r>
            <a:r>
              <a:rPr lang="en-US" sz="2500" b="1" dirty="0"/>
              <a:t> </a:t>
            </a:r>
            <a:r>
              <a:rPr lang="en-US" sz="2500" b="1" dirty="0" err="1"/>
              <a:t>mật</a:t>
            </a:r>
            <a:r>
              <a:rPr lang="en-US" sz="2500" b="1" dirty="0"/>
              <a:t> </a:t>
            </a:r>
            <a:r>
              <a:rPr lang="en-US" sz="2500" b="1" dirty="0" err="1"/>
              <a:t>khẩu</a:t>
            </a:r>
            <a:endParaRPr lang="en-US" sz="25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06" y="2819400"/>
            <a:ext cx="4788668" cy="289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6" y="2819400"/>
            <a:ext cx="5076825" cy="12170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4058324"/>
            <a:ext cx="5076826" cy="165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9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202605-795A-67A3-C2CB-A394B7A2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CB3873A-FEBA-D39D-6C34-EC144D36C51E}"/>
              </a:ext>
            </a:extLst>
          </p:cNvPr>
          <p:cNvSpPr/>
          <p:nvPr/>
        </p:nvSpPr>
        <p:spPr>
          <a:xfrm>
            <a:off x="0" y="-17417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F0467DD-BFE0-D211-398C-6483FDBFD945}"/>
              </a:ext>
            </a:extLst>
          </p:cNvPr>
          <p:cNvSpPr txBox="1"/>
          <p:nvPr/>
        </p:nvSpPr>
        <p:spPr>
          <a:xfrm>
            <a:off x="572148" y="1107672"/>
            <a:ext cx="1039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home: Các chức năng được phần quyền theo chức vụ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4C92446-B888-CC5F-B29C-8FA6E4E283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48" y="2561187"/>
            <a:ext cx="5672788" cy="4058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532526B-FB0E-D097-CEC9-1F0F3B8E1087}"/>
              </a:ext>
            </a:extLst>
          </p:cNvPr>
          <p:cNvSpPr txBox="1"/>
          <p:nvPr/>
        </p:nvSpPr>
        <p:spPr>
          <a:xfrm>
            <a:off x="673285" y="1724037"/>
            <a:ext cx="5097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vi-VN" sz="2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400" i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vi-V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FAA05B1-6FB7-661F-F39D-6EB1524BB9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073" y="2522963"/>
            <a:ext cx="5538354" cy="40735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8384928-1899-C372-5F2A-6997FE6F2E80}"/>
              </a:ext>
            </a:extLst>
          </p:cNvPr>
          <p:cNvSpPr txBox="1"/>
          <p:nvPr/>
        </p:nvSpPr>
        <p:spPr>
          <a:xfrm>
            <a:off x="7121633" y="1724037"/>
            <a:ext cx="3972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vi-VN" sz="2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400" i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 </a:t>
            </a:r>
            <a:r>
              <a:rPr lang="vi-V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viên </a:t>
            </a:r>
          </a:p>
        </p:txBody>
      </p:sp>
    </p:spTree>
    <p:extLst>
      <p:ext uri="{BB962C8B-B14F-4D97-AF65-F5344CB8AC3E}">
        <p14:creationId xmlns:p14="http://schemas.microsoft.com/office/powerpoint/2010/main" val="3024608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D60E87-9E6E-A801-C40D-F86B11E5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7790269-075B-739B-D08A-2C171CA0E717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B4D5B4E-C5A8-6361-3E57-06206D84BB39}"/>
              </a:ext>
            </a:extLst>
          </p:cNvPr>
          <p:cNvSpPr txBox="1"/>
          <p:nvPr/>
        </p:nvSpPr>
        <p:spPr>
          <a:xfrm>
            <a:off x="1315588" y="1039035"/>
            <a:ext cx="1039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sản phẩm : Các tính năng gồm: thêm, sửa, xóa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lọ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 phẩm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7FE610C-0B15-A614-69EC-6069D4930D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88" y="1751908"/>
            <a:ext cx="9351820" cy="455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89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AF1622-1734-9515-4F72-2E0A33D3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ADBDD74-37C3-29AB-31DA-D4521F2825B1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4FE457-F7A3-3D59-35CD-1B137A608129}"/>
              </a:ext>
            </a:extLst>
          </p:cNvPr>
          <p:cNvSpPr txBox="1"/>
          <p:nvPr/>
        </p:nvSpPr>
        <p:spPr>
          <a:xfrm>
            <a:off x="1087581" y="913202"/>
            <a:ext cx="1039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tồn kho : cho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biết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ố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lượng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tồn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kho của mỗi chi nhánh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81" y="1611084"/>
            <a:ext cx="10396539" cy="471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27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83D883-4DC5-AB70-D9AE-D27F6134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BE48AF8-089D-8B1A-869D-770BB72F9189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F22FAA0-6E5D-742D-1492-5CDAA44C9FD6}"/>
              </a:ext>
            </a:extLst>
          </p:cNvPr>
          <p:cNvSpPr txBox="1"/>
          <p:nvPr/>
        </p:nvSpPr>
        <p:spPr>
          <a:xfrm>
            <a:off x="1106631" y="818606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nhập kho : hiện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thị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iếu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nhập các thông tin của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ậ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ảnh hưởng đến tổng sản phẩm tồn kho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66441E9-8A09-2398-40A0-7083DF5D39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31" y="1801091"/>
            <a:ext cx="9978737" cy="46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26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D89B61-4B70-49F5-095F-5C771895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9F230EF-35FF-48FA-4515-33738288C92E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7C72A2C-C723-0530-8979-633D04E10417}"/>
              </a:ext>
            </a:extLst>
          </p:cNvPr>
          <p:cNvSpPr txBox="1"/>
          <p:nvPr/>
        </p:nvSpPr>
        <p:spPr>
          <a:xfrm>
            <a:off x="962890" y="913202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xuất kho : hiện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thị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iếu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xuất các thông tin của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 xuất ảnh hưởng đến tổng sản phẩm tồn kho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A9F3A58-777D-3FE7-E717-BA116C0F9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0" y="1715684"/>
            <a:ext cx="10266219" cy="489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55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C35949-391B-56BC-75DC-9AEF0397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36B3B77-94AD-807F-EB07-87B460EDD18D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A0A29E-368B-EF57-0D7D-87CB1B6E4DCC}"/>
              </a:ext>
            </a:extLst>
          </p:cNvPr>
          <p:cNvSpPr txBox="1"/>
          <p:nvPr/>
        </p:nvSpPr>
        <p:spPr>
          <a:xfrm>
            <a:off x="1070363" y="1014735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cảnh báo: cảnh báo tồn khi có sản phẩm có số lượng min nhỏ hơn 10 (phần này chỉ quản lý mới có quyền xem)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3C5677F-9AE2-10AA-01FA-22C1BC863E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63" y="2103416"/>
            <a:ext cx="9476508" cy="44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33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8E02BB-C7C2-DD6E-598C-FF7EE230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910221D-4833-16B1-2705-664A2A8998A4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D8BE545-AD28-802F-0ACA-4773DD2766F2}"/>
              </a:ext>
            </a:extLst>
          </p:cNvPr>
          <p:cNvSpPr txBox="1"/>
          <p:nvPr/>
        </p:nvSpPr>
        <p:spPr>
          <a:xfrm>
            <a:off x="1033895" y="985938"/>
            <a:ext cx="103965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điều chuyển: cho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 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uyể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 phẩm từ kho của chi nhánh tồn nhiều sản phẩm sang kho tồn ít sản phẩm tương ứng (phần này chỉ quản lý mới có quyền xem)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AF3FE29-54A1-E0BD-6CEE-0F175C1D04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5" y="2211977"/>
            <a:ext cx="9764734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1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38072A-B500-5FA0-CA6F-8A125D0C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15437D5-8524-EB07-014E-00FACB68064D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D0F86ED-16A0-0E22-7A2F-115060A5CBAB}"/>
              </a:ext>
            </a:extLst>
          </p:cNvPr>
          <p:cNvSpPr txBox="1"/>
          <p:nvPr/>
        </p:nvSpPr>
        <p:spPr>
          <a:xfrm>
            <a:off x="1033895" y="985938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doanh thu: cho phép xem doanh thu hàng ngày, </a:t>
            </a:r>
            <a:r>
              <a:rPr lang="vi-VN"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</a:t>
            </a:r>
            <a:r>
              <a:rPr lang="en-US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vi-VN" sz="26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 </a:t>
            </a:r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phẩm bán chạy (phần này chỉ quản lý mới có quyền xem)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95E34FB-043D-8698-7BBF-197E32BFA8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296" y="1861156"/>
            <a:ext cx="9819408" cy="46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69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816802-0CFD-1B0C-46CA-2E2EECA6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DE44BC8-6023-AE14-48C6-A7041D7042C4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6EB7176-642C-59CB-1327-C8024942C81B}"/>
              </a:ext>
            </a:extLst>
          </p:cNvPr>
          <p:cNvSpPr txBox="1"/>
          <p:nvPr/>
        </p:nvSpPr>
        <p:spPr>
          <a:xfrm>
            <a:off x="1033895" y="985938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nhà cung cấp: cho phép xem thông tin nhà cung cấp (phần này chỉ quản lý mới có quyền xem)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5EE68F4-D64A-0AB2-28E9-69F17D4F9C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5" y="1878490"/>
            <a:ext cx="10308216" cy="46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74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63A9D5-7766-6439-4EE5-D66F0ACC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B270DCF-80C2-2A4A-C81A-24AE627E4888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9903DFA-2296-5A86-8D10-B6DE4E8B9357}"/>
              </a:ext>
            </a:extLst>
          </p:cNvPr>
          <p:cNvSpPr txBox="1"/>
          <p:nvPr/>
        </p:nvSpPr>
        <p:spPr>
          <a:xfrm>
            <a:off x="1033895" y="985938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khách hàng: hiển thị thông tin khách hàng (phần này chỉ quản lý mới có quyền xem)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E409E6C-C47A-A6F4-DC6B-F398929E2A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4" y="1861156"/>
            <a:ext cx="10396539" cy="44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45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B7A632-6848-3551-B5D1-3F2B1693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F88A1-854E-00ED-055D-C04240A3FF3D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CHỨC NĂNG CHÍNH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E2DBC59-03A6-D9C0-32F6-98537382BD3B}"/>
              </a:ext>
            </a:extLst>
          </p:cNvPr>
          <p:cNvSpPr txBox="1"/>
          <p:nvPr/>
        </p:nvSpPr>
        <p:spPr>
          <a:xfrm>
            <a:off x="1033895" y="985938"/>
            <a:ext cx="103965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Trang xe vận chuyển: hiển thị thông tin xe vận chuyển (phần này chỉ quản lý mới có quyền xem)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5E01C93-37D2-E07E-5734-6D7E2BB898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4" y="1878490"/>
            <a:ext cx="10167505" cy="449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48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EE47C5-9F12-57A7-7B26-4E995513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B6BBF2F8-5388-5787-B26D-BB7AEEBCDC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732191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069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840</Words>
  <Application>Microsoft Office PowerPoint</Application>
  <PresentationFormat>Widescreen</PresentationFormat>
  <Paragraphs>118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19</cp:revision>
  <dcterms:created xsi:type="dcterms:W3CDTF">2025-04-16T07:39:57Z</dcterms:created>
  <dcterms:modified xsi:type="dcterms:W3CDTF">2025-10-30T15:20:13Z</dcterms:modified>
</cp:coreProperties>
</file>